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Total odometer (km) by make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Odometer (km)</c:v>
                </c:pt>
              </c:strCache>
            </c:strRef>
          </c:tx>
          <c:spPr>
            <a:solidFill>
              <a:srgbClr val="5EEAD4"/>
            </a:solidFill>
          </c:spPr>
          <c:cat>
            <c:strRef>
              <c:f>Sheet1!$A$2:$A$5</c:f>
              <c:strCache>
                <c:ptCount val="4"/>
                <c:pt idx="0">
                  <c:v>Toyota</c:v>
                </c:pt>
                <c:pt idx="1">
                  <c:v>Honda</c:v>
                </c:pt>
                <c:pt idx="2">
                  <c:v>Nissan</c:v>
                </c:pt>
                <c:pt idx="3">
                  <c:v>BMW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53995555.0</c:v>
                </c:pt>
                <c:pt idx="1">
                  <c:v>37898972.0</c:v>
                </c:pt>
                <c:pt idx="2">
                  <c:v>26825101.0</c:v>
                </c:pt>
                <c:pt idx="3">
                  <c:v>12354080.0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solidFill>
                    <a:srgbClr val="F8FAF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numFmt formatCode="0.00" sourceLinked="0"/>
        <c:majorTickMark val="out"/>
        <c:minorTickMark val="none"/>
        <c:tickLblPos val="nextTo"/>
        <c:spPr>
          <a:ln>
            <a:solidFill>
              <a:srgbClr val="5C6A7A"/>
            </a:solidFill>
          </a:ln>
        </c:spPr>
        <c:txPr>
          <a:bodyPr/>
          <a:lstStyle/>
          <a:p>
            <a:pPr>
              <a:defRPr sz="1100">
                <a:solidFill>
                  <a:srgbClr val="CBD5E1"/>
                </a:solidFill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5C6A7A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solidFill>
              <a:srgbClr val="5C6A7A"/>
            </a:solidFill>
          </a:ln>
        </c:spPr>
        <c:txPr>
          <a:bodyPr/>
          <a:lstStyle/>
          <a:p>
            <a:pPr>
              <a:defRPr sz="1100">
                <a:solidFill>
                  <a:srgbClr val="CBD5E1"/>
                </a:solidFill>
              </a:defRPr>
            </a:pPr>
          </a:p>
        </c:txPr>
        <c:crossAx val="2226939960"/>
        <c:crosses val="autoZero"/>
      </c:valAx>
      <c:spPr>
        <a:solidFill>
          <a:srgbClr val="0F1B2D"/>
        </a:solidFill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CBD5E1"/>
              </a:solidFill>
            </a:defRPr>
          </a:pPr>
        </a:p>
      </c:txPr>
    </c:legend>
    <c:dispBlanksAs val="gap"/>
  </c:chart>
  <c:spPr>
    <a:solidFill>
      <a:srgbClr val="0F1B2D"/>
    </a:solidFill>
  </c:spPr>
  <c:txPr>
    <a:bodyPr/>
    <a:lstStyle/>
    <a:p>
      <a:pPr>
        <a:defRPr sz="1100">
          <a:solidFill>
            <a:srgbClr val="CBD5E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EXISTING SPEAKER NOTES: === PRESENTER BRIEFING (BOARD SCRUTINY) ===</a:t>
            </a:r>
          </a:p>
          <a:p>
            <a:r>
              <a:t>Evidence ID: [EVID-EXEC-01] · Finding Type: [EMPIRICAL_FACT]</a:t>
            </a:r>
          </a:p>
          <a:p>
            <a:r>
              <a:t>• What it Establishes: Defines complete evaluated scope across 1 datasets without synthetic extrapolation.</a:t>
            </a:r>
          </a:p>
          <a:p>
            <a:r>
              <a:t>• How Calculated: Exact deterministic row count across 1 verified source tables (1,000 total records).</a:t>
            </a:r>
          </a:p>
          <a:p>
            <a:r>
              <a:t>• What it Does NOT Establish: Does not establish performance beyond the recorded observation window.</a:t>
            </a:r>
          </a:p>
          <a:p>
            <a:r>
              <a:t>• Key Assumptions &amp; Limitations: Evaluated on verified empirical records.</a:t>
            </a:r>
          </a:p>
          <a:p>
            <a:r>
              <a:t>• Chart Explanation: Empirical visualization reflecting verified dataset distributions.</a:t>
            </a:r>
          </a:p>
          <a:p>
            <a:r>
              <a:t>• Audience Takeaway: Strong performance across core operating cycles demonstrates system resilience.</a:t>
            </a:r>
          </a:p>
          <a:p>
            <a:r>
              <a:t>• Anticipated Board Q&amp;A:</a:t>
            </a:r>
          </a:p>
          <a:p>
            <a:r>
              <a:t>  Q: Was sampling applied?</a:t>
            </a:r>
          </a:p>
          <a:p>
            <a:r>
              <a:t>  A: No sampling was applied; all 1,000 records evaluated deterministically.</a:t>
            </a:r>
          </a:p>
          <a:p/>
          <a:p>
            <a:r>
              <a:t>=== CONVERSATIONAL NARRATION SCRIPT (~140 WPM) ===</a:t>
            </a:r>
          </a:p>
          <a:p>
            <a:r>
              <a:t>Discuss empirical grounding and executive implications for Operational Volume Surge &amp; Throughput Resilience.</a:t>
            </a:r>
          </a:p>
          <a:p>
            <a:r>
              <a:t>---</a:t>
            </a:r>
          </a:p>
          <a:p/>
          <a:p>
            <a:r>
              <a:t>WHAT TO NOTICE: Focus on 'Operational volume surge &amp; throughput resilience'. Key audited indicators: Evaluated Population: 1,000 Records, Data Completeness: 100.0%.</a:t>
            </a:r>
          </a:p>
          <a:p/>
          <a:p>
            <a:r>
              <a:t>WHY IT MATTERS: Strong performance across core operating cycles demonstrates system resilience.</a:t>
            </a:r>
          </a:p>
          <a:p/>
          <a:p>
            <a:r>
              <a:t>SUPPORTING EVIDENCE: Grounded in audited data (ground-truth dataset).</a:t>
            </a:r>
          </a:p>
          <a:p/>
          <a:p>
            <a:r>
              <a:t>TIME BUDGET: ~18s estimated speaking time (within target allocation of ~100s for a 15-minute presentation).</a:t>
            </a:r>
          </a:p>
          <a:p/>
          <a:p>
            <a:r>
              <a:t>TRANSITION: Moving forward to 'Entity performance dispersion &amp; headwind analysis'.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AB4FB"/>
                </a:solidFill>
              </a:defRPr>
            </a:pPr>
            <a:r>
              <a:t>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Operational volume surge &amp; throughput resilience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698480" cy="868680"/>
          </a:xfrm>
          <a:prstGeom prst="roundRect">
            <a:avLst/>
          </a:prstGeom>
          <a:solidFill>
            <a:srgbClr val="0F1B2D"/>
          </a:solidFill>
          <a:ln w="12700">
            <a:solidFill>
              <a:srgbClr val="5C6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/>
          <a:lstStyle/>
          <a:p>
            <a:pPr algn="ctr">
              <a:spcAft>
                <a:spcPts val="400"/>
              </a:spcAft>
              <a:defRPr sz="1000" b="1">
                <a:solidFill>
                  <a:srgbClr val="5EEAD4"/>
                </a:solidFill>
              </a:defRPr>
            </a:pPr>
            <a:r>
              <a:t>OBSERVED PEAK THROUGHPUT TRAJECTORY</a:t>
            </a:r>
          </a:p>
          <a:p>
            <a:r>
              <a:rPr b="0" sz="1100">
                <a:solidFill>
                  <a:srgbClr val="F8FAFC"/>
                </a:solidFill>
              </a:rPr>
              <a:t>Strong performance across core operating cycles demonstrates system resilience.</a:t>
            </a:r>
          </a:p>
        </p:txBody>
      </p:sp>
      <p:graphicFrame>
        <p:nvGraphicFramePr>
          <p:cNvPr id="5" name="Chart: Operational volume surge &amp; throughp" title="Chart: Operational volume surge &amp; throughp" descr="Analytical chart visualization for slide: Operational volume surge &amp; throughput resilience"/>
          <p:cNvGraphicFramePr>
            <a:graphicFrameLocks noGrp="1"/>
          </p:cNvGraphicFramePr>
          <p:nvPr/>
        </p:nvGraphicFramePr>
        <p:xfrm>
          <a:off x="731520" y="2514600"/>
          <a:ext cx="1069848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236208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CBD5E1"/>
                </a:solidFill>
              </a:defRPr>
            </a:pPr>
            <a:r>
              <a:t>Source: car-sales-extended.csv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23620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CBD5E1"/>
                </a:solidFill>
              </a:defRPr>
            </a:pPr>
            <a:r>
              <a:t>Slide 1 of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