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Average office days per employee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Office days</c:v>
                </c:pt>
              </c:strCache>
            </c:strRef>
          </c:tx>
          <c:spPr>
            <a:solidFill>
              <a:srgbClr val="1A46A7"/>
            </a:solidFill>
          </c:spPr>
          <c:cat>
            <c:strRef>
              <c:f>Sheet1!$A$2:$A$3</c:f>
              <c:strCache>
                <c:ptCount val="2"/>
                <c:pt idx="0">
                  <c:v>1 to 5 July 2026</c:v>
                </c:pt>
                <c:pt idx="1">
                  <c:v>6 to 12 July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2.6666666666666665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0.00" sourceLinked="0"/>
        <c:majorTickMark val="out"/>
        <c:minorTickMark val="none"/>
        <c:tickLblPos val="nextTo"/>
        <c:spPr>
          <a:ln>
            <a:solidFill>
              <a:srgbClr val="8B8F94"/>
            </a:solidFill>
          </a:ln>
        </c:spPr>
        <c:txPr>
          <a:bodyPr/>
          <a:lstStyle/>
          <a:p>
            <a:pPr>
              <a:defRPr sz="1400">
                <a:solidFill>
                  <a:srgbClr val="434E5E"/>
                </a:solidFill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8B8F94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8B8F94"/>
            </a:solidFill>
          </a:ln>
        </c:spPr>
        <c:txPr>
          <a:bodyPr/>
          <a:lstStyle/>
          <a:p>
            <a:pPr>
              <a:defRPr sz="1400">
                <a:solidFill>
                  <a:srgbClr val="434E5E"/>
                </a:solidFill>
              </a:defRPr>
            </a:pPr>
          </a:p>
        </c:txPr>
        <c:crossAx val="2226939960"/>
        <c:crosses val="autoZero"/>
      </c:valAx>
      <c:spPr>
        <a:solidFill>
          <a:srgbClr val="F8FAFC"/>
        </a:solidFill>
      </c:spPr>
    </c:plotArea>
    <c:dispBlanksAs val="gap"/>
  </c:chart>
  <c:spPr>
    <a:solidFill>
      <a:srgbClr val="F8FAFC"/>
    </a:solidFill>
  </c:spPr>
  <c:txPr>
    <a:bodyPr/>
    <a:lstStyle/>
    <a:p>
      <a:pPr>
        <a:defRPr sz="1400">
          <a:solidFill>
            <a:srgbClr val="434E5E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Employees by office-day band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1A46A7"/>
            </a:solidFill>
          </c:spPr>
          <c:cat>
            <c:strRef>
              <c:f>Sheet1!$A$2:$A$7</c:f>
              <c:strCache>
                <c:ptCount val="6"/>
                <c:pt idx="0">
                  <c:v>0–5</c:v>
                </c:pt>
                <c:pt idx="1">
                  <c:v>6–9</c:v>
                </c:pt>
                <c:pt idx="2">
                  <c:v>10–12</c:v>
                </c:pt>
                <c:pt idx="3">
                  <c:v>13–15</c:v>
                </c:pt>
                <c:pt idx="4">
                  <c:v>16–19</c:v>
                </c:pt>
                <c:pt idx="5">
                  <c:v>20+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rgbClr val="8B8F94"/>
            </a:solidFill>
          </a:ln>
        </c:spPr>
        <c:txPr>
          <a:bodyPr/>
          <a:lstStyle/>
          <a:p>
            <a:pPr>
              <a:defRPr sz="1400">
                <a:solidFill>
                  <a:srgbClr val="434E5E"/>
                </a:solidFill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8B8F94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8B8F94"/>
            </a:solidFill>
          </a:ln>
        </c:spPr>
        <c:txPr>
          <a:bodyPr/>
          <a:lstStyle/>
          <a:p>
            <a:pPr>
              <a:defRPr sz="1400">
                <a:solidFill>
                  <a:srgbClr val="434E5E"/>
                </a:solidFill>
              </a:defRPr>
            </a:pPr>
          </a:p>
        </c:txPr>
        <c:crossAx val="2226939960"/>
        <c:crosses val="autoZero"/>
        <c:majorUnit val="1.0"/>
      </c:valAx>
      <c:spPr>
        <a:solidFill>
          <a:srgbClr val="F8FAFC"/>
        </a:solidFill>
      </c:spPr>
    </c:plotArea>
    <c:dispBlanksAs val="gap"/>
  </c:chart>
  <c:spPr>
    <a:solidFill>
      <a:srgbClr val="F8FAFC"/>
    </a:solidFill>
  </c:spPr>
  <c:txPr>
    <a:bodyPr/>
    <a:lstStyle/>
    <a:p>
      <a:pPr>
        <a:defRPr sz="1400">
          <a:solidFill>
            <a:srgbClr val="434E5E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recorded office days, approved leave and the checks needed before making policy decisions. WFO policy and working-day calendar were not supplied; compliance and working-day rates cannot be determined.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Office days and leave are reported separately. Missing attendance values are excluded from averages. The figures describe recorded attendance; they do not establish policy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averages use employees with a recorded attendance value in each week. Week lengths differ. These are recorded days per employee, not attendance rates or a historical trend.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department averages alongside the number of employees with recorded attendance. Leave, role requirements and small teams can affect comparisons; no performance ranking is implied.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bands show recorded office days, without classifying employees as compliant or non-compliant. Missing or negative attendance is outside these bands and needs review.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source checks for HR review, not conclusions about individual employees. 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rows with every required value are included in these checks. A matching total verifies arithmetic; it does not verify leave policy or the final-attendance definition.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recorded attendance for discussion, then resolve definitions before making compliance decisions. Confirm the WFO requirement and working-day calendar. Confirm whether leave is recorded in calendar days or working days. Check flagged entries and the final-attendance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46A7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Plus Jakarta Sans"/>
              </a:defRPr>
            </a:pPr>
            <a:r>
              <a:t>Office attendance review</a:t>
            </a:r>
          </a:p>
        </p:txBody>
      </p:sp>
      <p:sp>
        <p:nvSpPr>
          <p:cNvPr id="4" name="Text: subtitl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1527C"/>
                </a:solidFill>
                <a:latin typeface="Plus Jakarta Sans"/>
              </a:defRPr>
            </a:pPr>
            <a:r>
              <a:t>July 2026</a:t>
            </a:r>
          </a:p>
        </p:txBody>
      </p:sp>
      <p:sp>
        <p:nvSpPr>
          <p:cNvPr id="5" name="Text: narrative"/>
          <p:cNvSpPr txBox="1"/>
          <p:nvPr/>
        </p:nvSpPr>
        <p:spPr>
          <a:xfrm>
            <a:off x="609600" y="16637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Review recorded office days, approved leave and the checks needed before making policy decisions.</a:t>
            </a:r>
          </a:p>
        </p:txBody>
      </p:sp>
      <p:sp>
        <p:nvSpPr>
          <p:cNvPr id="6" name="Text: Source rows"/>
          <p:cNvSpPr txBox="1"/>
          <p:nvPr/>
        </p:nvSpPr>
        <p:spPr>
          <a:xfrm>
            <a:off x="609600" y="2451100"/>
            <a:ext cx="10972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46A7"/>
                </a:solidFill>
                <a:latin typeface="Plus Jakarta Sans"/>
              </a:defRPr>
            </a:pPr>
            <a:r>
              <a:t>Source rows</a:t>
            </a:r>
          </a:p>
        </p:txBody>
      </p:sp>
      <p:sp>
        <p:nvSpPr>
          <p:cNvPr id="7" name="Text: 3"/>
          <p:cNvSpPr txBox="1"/>
          <p:nvPr/>
        </p:nvSpPr>
        <p:spPr>
          <a:xfrm>
            <a:off x="609600" y="280670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72A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8" name="Text: rows"/>
          <p:cNvSpPr txBox="1"/>
          <p:nvPr/>
        </p:nvSpPr>
        <p:spPr>
          <a:xfrm>
            <a:off x="609600" y="33909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34E5E"/>
                </a:solidFill>
                <a:latin typeface="Plus Jakarta Sans"/>
              </a:defRPr>
            </a:pPr>
            <a:r>
              <a:t>rows</a:t>
            </a:r>
          </a:p>
        </p:txBody>
      </p:sp>
      <p:sp>
        <p:nvSpPr>
          <p:cNvPr id="9" name="Text: • WFO policy and working-day calend"/>
          <p:cNvSpPr txBox="1"/>
          <p:nvPr/>
        </p:nvSpPr>
        <p:spPr>
          <a:xfrm>
            <a:off x="609600" y="38481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• WFO policy and working-day calendar were not supplied; compliance and working-day rates cannot be determined.</a:t>
            </a:r>
          </a:p>
        </p:txBody>
      </p:sp>
      <p:sp>
        <p:nvSpPr>
          <p:cNvPr id="10" name="Text: July WFO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34E5E"/>
                </a:solidFill>
                <a:latin typeface="Plus Jakarta Sans"/>
              </a:defRPr>
            </a:pPr>
            <a:r>
              <a:t>July WFO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434E5E"/>
                </a:solidFill>
                <a:latin typeface="Plus Jakarta Sans"/>
              </a:defRPr>
            </a:pPr>
            <a: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46A7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Plus Jakarta Sans"/>
              </a:defRPr>
            </a:pPr>
            <a:r>
              <a:t>Attendance at a glance</a:t>
            </a:r>
          </a:p>
        </p:txBody>
      </p:sp>
      <p:sp>
        <p:nvSpPr>
          <p:cNvPr id="4" name="Text: subtitl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1527C"/>
                </a:solidFill>
                <a:latin typeface="Plus Jakarta Sans"/>
              </a:defRPr>
            </a:pPr>
            <a:r>
              <a:t>July 2026</a:t>
            </a:r>
          </a:p>
        </p:txBody>
      </p:sp>
      <p:sp>
        <p:nvSpPr>
          <p:cNvPr id="5" name="Text: narrative"/>
          <p:cNvSpPr txBox="1"/>
          <p:nvPr/>
        </p:nvSpPr>
        <p:spPr>
          <a:xfrm>
            <a:off x="609600" y="16637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Office days and leave are reported separately. Missing attendance values are excluded from averages.</a:t>
            </a:r>
          </a:p>
        </p:txBody>
      </p:sp>
      <p:sp>
        <p:nvSpPr>
          <p:cNvPr id="6" name="Text: Employees"/>
          <p:cNvSpPr txBox="1"/>
          <p:nvPr/>
        </p:nvSpPr>
        <p:spPr>
          <a:xfrm>
            <a:off x="609600" y="24511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46A7"/>
                </a:solidFill>
                <a:latin typeface="Plus Jakarta Sans"/>
              </a:defRPr>
            </a:pPr>
            <a:r>
              <a:t>Employees</a:t>
            </a:r>
          </a:p>
        </p:txBody>
      </p:sp>
      <p:sp>
        <p:nvSpPr>
          <p:cNvPr id="7" name="Text: 3"/>
          <p:cNvSpPr txBox="1"/>
          <p:nvPr/>
        </p:nvSpPr>
        <p:spPr>
          <a:xfrm>
            <a:off x="609600" y="280670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72A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8" name="Text: employees"/>
          <p:cNvSpPr txBox="1"/>
          <p:nvPr/>
        </p:nvSpPr>
        <p:spPr>
          <a:xfrm>
            <a:off x="609600" y="3390900"/>
            <a:ext cx="259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34E5E"/>
                </a:solidFill>
                <a:latin typeface="Plus Jakarta Sans"/>
              </a:defRPr>
            </a:pPr>
            <a:r>
              <a:t>employees</a:t>
            </a:r>
          </a:p>
        </p:txBody>
      </p:sp>
      <p:sp>
        <p:nvSpPr>
          <p:cNvPr id="9" name="Text: Recorded office days"/>
          <p:cNvSpPr txBox="1"/>
          <p:nvPr/>
        </p:nvSpPr>
        <p:spPr>
          <a:xfrm>
            <a:off x="3403600" y="24511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46A7"/>
                </a:solidFill>
                <a:latin typeface="Plus Jakarta Sans"/>
              </a:defRPr>
            </a:pPr>
            <a:r>
              <a:t>Recorded office days</a:t>
            </a:r>
          </a:p>
        </p:txBody>
      </p:sp>
      <p:sp>
        <p:nvSpPr>
          <p:cNvPr id="10" name="Text: 9"/>
          <p:cNvSpPr txBox="1"/>
          <p:nvPr/>
        </p:nvSpPr>
        <p:spPr>
          <a:xfrm>
            <a:off x="3403600" y="280670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72A"/>
                </a:solidFill>
                <a:latin typeface="Plus Jakarta Sans"/>
              </a:defRPr>
            </a:pPr>
            <a:r>
              <a:t>9</a:t>
            </a:r>
          </a:p>
        </p:txBody>
      </p:sp>
      <p:sp>
        <p:nvSpPr>
          <p:cNvPr id="11" name="Text: days"/>
          <p:cNvSpPr txBox="1"/>
          <p:nvPr/>
        </p:nvSpPr>
        <p:spPr>
          <a:xfrm>
            <a:off x="3403600" y="3390900"/>
            <a:ext cx="259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34E5E"/>
                </a:solidFill>
                <a:latin typeface="Plus Jakarta Sans"/>
              </a:defRPr>
            </a:pPr>
            <a:r>
              <a:t>days</a:t>
            </a:r>
          </a:p>
        </p:txBody>
      </p:sp>
      <p:sp>
        <p:nvSpPr>
          <p:cNvPr id="12" name="Text: Median office days"/>
          <p:cNvSpPr txBox="1"/>
          <p:nvPr/>
        </p:nvSpPr>
        <p:spPr>
          <a:xfrm>
            <a:off x="6197600" y="24511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46A7"/>
                </a:solidFill>
                <a:latin typeface="Plus Jakarta Sans"/>
              </a:defRPr>
            </a:pPr>
            <a:r>
              <a:t>Median office days</a:t>
            </a:r>
          </a:p>
        </p:txBody>
      </p:sp>
      <p:sp>
        <p:nvSpPr>
          <p:cNvPr id="13" name="Text: 4.5"/>
          <p:cNvSpPr txBox="1"/>
          <p:nvPr/>
        </p:nvSpPr>
        <p:spPr>
          <a:xfrm>
            <a:off x="6197600" y="280670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72A"/>
                </a:solidFill>
                <a:latin typeface="Plus Jakarta Sans"/>
              </a:defRPr>
            </a:pPr>
            <a:r>
              <a:t>4.5</a:t>
            </a:r>
          </a:p>
        </p:txBody>
      </p:sp>
      <p:sp>
        <p:nvSpPr>
          <p:cNvPr id="14" name="Text: days"/>
          <p:cNvSpPr txBox="1"/>
          <p:nvPr/>
        </p:nvSpPr>
        <p:spPr>
          <a:xfrm>
            <a:off x="6197600" y="3390900"/>
            <a:ext cx="259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34E5E"/>
                </a:solidFill>
                <a:latin typeface="Plus Jakarta Sans"/>
              </a:defRPr>
            </a:pPr>
            <a:r>
              <a:t>days</a:t>
            </a:r>
          </a:p>
        </p:txBody>
      </p:sp>
      <p:sp>
        <p:nvSpPr>
          <p:cNvPr id="15" name="Text: Recorded approved leave"/>
          <p:cNvSpPr txBox="1"/>
          <p:nvPr/>
        </p:nvSpPr>
        <p:spPr>
          <a:xfrm>
            <a:off x="8991600" y="24511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46A7"/>
                </a:solidFill>
                <a:latin typeface="Plus Jakarta Sans"/>
              </a:defRPr>
            </a:pPr>
            <a:r>
              <a:t>Recorded approved leave</a:t>
            </a:r>
          </a:p>
        </p:txBody>
      </p:sp>
      <p:sp>
        <p:nvSpPr>
          <p:cNvPr id="16" name="Text: 3"/>
          <p:cNvSpPr txBox="1"/>
          <p:nvPr/>
        </p:nvSpPr>
        <p:spPr>
          <a:xfrm>
            <a:off x="8991600" y="280670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72A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17" name="Text: days"/>
          <p:cNvSpPr txBox="1"/>
          <p:nvPr/>
        </p:nvSpPr>
        <p:spPr>
          <a:xfrm>
            <a:off x="8991600" y="3390900"/>
            <a:ext cx="259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34E5E"/>
                </a:solidFill>
                <a:latin typeface="Plus Jakarta Sans"/>
              </a:defRPr>
            </a:pPr>
            <a:r>
              <a:t>days</a:t>
            </a:r>
          </a:p>
        </p:txBody>
      </p:sp>
      <p:sp>
        <p:nvSpPr>
          <p:cNvPr id="18" name="Text: • The figures describe recorded att"/>
          <p:cNvSpPr txBox="1"/>
          <p:nvPr/>
        </p:nvSpPr>
        <p:spPr>
          <a:xfrm>
            <a:off x="609600" y="38481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• The figures describe recorded attendance; they do not establish policy compliance.</a:t>
            </a:r>
          </a:p>
        </p:txBody>
      </p:sp>
      <p:sp>
        <p:nvSpPr>
          <p:cNvPr id="19" name="Text: July WFO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34E5E"/>
                </a:solidFill>
                <a:latin typeface="Plus Jakarta Sans"/>
              </a:defRPr>
            </a:pPr>
            <a:r>
              <a:t>July WFO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434E5E"/>
                </a:solidFill>
                <a:latin typeface="Plus Jakarta Sans"/>
              </a:defRPr>
            </a:pPr>
            <a: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46A7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Plus Jakarta Sans"/>
              </a:defRPr>
            </a:pPr>
            <a:r>
              <a:t>Office days across the recorded weeks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Weekly averages use employees with a recorded attendance value in each week.</a:t>
            </a:r>
          </a:p>
        </p:txBody>
      </p:sp>
      <p:graphicFrame>
        <p:nvGraphicFramePr>
          <p:cNvPr id="5" name="Chart: Office days across the recorded wee" title="Chart: Office days across the recorded wee" descr="Analytical chart visualization for slide: Office days across the recorded weeks"/>
          <p:cNvGraphicFramePr>
            <a:graphicFrameLocks noGrp="1"/>
          </p:cNvGraphicFramePr>
          <p:nvPr/>
        </p:nvGraphicFramePr>
        <p:xfrm>
          <a:off x="609600" y="1663700"/>
          <a:ext cx="10972800" cy="450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34E5E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434E5E"/>
                </a:solidFill>
                <a:latin typeface="Plus Jakarta Sans"/>
              </a:defRPr>
            </a:pPr>
            <a: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46A7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Plus Jakarta Sans"/>
              </a:defRPr>
            </a:pPr>
            <a:r>
              <a:t>Office days by department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Compare department averages alongside the number of employees with recorded attendance.</a:t>
            </a:r>
          </a:p>
        </p:txBody>
      </p:sp>
      <p:graphicFrame>
        <p:nvGraphicFramePr>
          <p:cNvPr id="5" name="Data Table: Office days by department" title="Data Table: Office days by department" descr="Empirical data table supporting slide: Office days by department"/>
          <p:cNvGraphicFramePr>
            <a:graphicFrameLocks noGrp="1"/>
          </p:cNvGraphicFramePr>
          <p:nvPr/>
        </p:nvGraphicFramePr>
        <p:xfrm>
          <a:off x="609600" y="1663700"/>
          <a:ext cx="1097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8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Department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Employees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Avg office days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Recorded employees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Design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2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3.00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1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Operations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1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6.00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1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34E5E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434E5E"/>
                </a:solidFill>
                <a:latin typeface="Plus Jakarta Sans"/>
              </a:defRPr>
            </a:pPr>
            <a: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46A7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Plus Jakarta Sans"/>
              </a:defRPr>
            </a:pPr>
            <a:r>
              <a:t>How recorded office days are distributed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The bands show recorded office days, without classifying employees as compliant or non-compliant.</a:t>
            </a:r>
          </a:p>
        </p:txBody>
      </p:sp>
      <p:graphicFrame>
        <p:nvGraphicFramePr>
          <p:cNvPr id="5" name="Chart: How recorded office days are distri" title="Chart: How recorded office days are distri" descr="Analytical chart visualization for slide: How recorded office days are distributed"/>
          <p:cNvGraphicFramePr>
            <a:graphicFrameLocks noGrp="1"/>
          </p:cNvGraphicFramePr>
          <p:nvPr/>
        </p:nvGraphicFramePr>
        <p:xfrm>
          <a:off x="609600" y="1943100"/>
          <a:ext cx="10972800" cy="4229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34E5E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434E5E"/>
                </a:solidFill>
                <a:latin typeface="Plus Jakarta Sans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46A7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Plus Jakarta Sans"/>
              </a:defRPr>
            </a:pPr>
            <a:r>
              <a:t>Attendance entries that need checking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These are source checks for HR review, not conclusions about individual employees.</a:t>
            </a:r>
          </a:p>
        </p:txBody>
      </p:sp>
      <p:graphicFrame>
        <p:nvGraphicFramePr>
          <p:cNvPr id="5" name="Data Table: Attendance entries that need checki" title="Data Table: Attendance entries that need checki" descr="Empirical data table supporting slide: Attendance entries that need checking"/>
          <p:cNvGraphicFramePr>
            <a:graphicFrameLocks noGrp="1"/>
          </p:cNvGraphicFramePr>
          <p:nvPr/>
        </p:nvGraphicFramePr>
        <p:xfrm>
          <a:off x="609600" y="1663700"/>
          <a:ext cx="10972799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9664"/>
                <a:gridCol w="2852928"/>
                <a:gridCol w="3950207"/>
              </a:tblGrid>
              <a:tr h="8001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Check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Affected rows or employee IDs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Follow-up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Missing office-day value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1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Confirm the source value; it is not treated as zero.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</a:tr>
              <a:tr h="11049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Final attendance equals office days minus leave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001, 002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Check for double subtraction if office days already exclude leave; confirm policy first.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34E5E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434E5E"/>
                </a:solidFill>
                <a:latin typeface="Plus Jakarta Sans"/>
              </a:defRPr>
            </a:pPr>
            <a: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46A7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Plus Jakarta Sans"/>
              </a:defRPr>
            </a:pPr>
            <a:r>
              <a:t>Do weekly entries agree with monthly totals?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Only rows with every required value are included in these checks.</a:t>
            </a:r>
          </a:p>
        </p:txBody>
      </p:sp>
      <p:graphicFrame>
        <p:nvGraphicFramePr>
          <p:cNvPr id="5" name="Data Table: Do weekly entries agree with monthl" title="Data Table: Do weekly entries agree with monthl" descr="Empirical data table supporting slide: Do weekly entries agree with monthly totals?"/>
          <p:cNvGraphicFramePr>
            <a:graphicFrameLocks noGrp="1"/>
          </p:cNvGraphicFramePr>
          <p:nvPr/>
        </p:nvGraphicFramePr>
        <p:xfrm>
          <a:off x="609600" y="1663700"/>
          <a:ext cx="10972800" cy="130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8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Check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Matching rows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Checked rows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1A46A7"/>
                          </a:solidFill>
                          <a:latin typeface="Plus Jakarta Sans"/>
                        </a:defRPr>
                      </a:pPr>
                      <a:r>
                        <a:t>Meaning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Office-day totals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2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2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0F172A"/>
                          </a:solidFill>
                          <a:latin typeface="Plus Jakarta Sans"/>
                        </a:defRPr>
                      </a:pPr>
                      <a:r>
                        <a:t>Weekly sum agrees with monthly total</a:t>
                      </a:r>
                    </a:p>
                  </a:txBody>
                  <a:tcPr anchor="t" marL="101600" marR="101600" marT="101600" marB="101600">
                    <a:solidFill>
                      <a:srgbClr val="F8FAFC"/>
                    </a:solidFill>
                    <a:lnL w="12700">
                      <a:solidFill>
                        <a:srgbClr val="8B8F94"/>
                      </a:solidFill>
                    </a:lnL>
                    <a:lnR w="12700">
                      <a:solidFill>
                        <a:srgbClr val="8B8F94"/>
                      </a:solidFill>
                    </a:lnR>
                    <a:lnT w="12700">
                      <a:solidFill>
                        <a:srgbClr val="8B8F94"/>
                      </a:solidFill>
                    </a:lnT>
                    <a:lnB w="12700">
                      <a:solidFill>
                        <a:srgbClr val="8B8F9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34E5E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434E5E"/>
                </a:solidFill>
                <a:latin typeface="Plus Jakarta Sans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46A7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172A"/>
                </a:solidFill>
                <a:latin typeface="Plus Jakarta Sans"/>
              </a:defRPr>
            </a:pPr>
            <a:r>
              <a:t>What HR should confirm next</a:t>
            </a:r>
          </a:p>
        </p:txBody>
      </p:sp>
      <p:sp>
        <p:nvSpPr>
          <p:cNvPr id="4" name="Text: subtitl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1527C"/>
                </a:solidFill>
                <a:latin typeface="Plus Jakarta Sans"/>
              </a:defRPr>
            </a:pPr>
            <a:r>
              <a:t>July 2026</a:t>
            </a:r>
          </a:p>
        </p:txBody>
      </p:sp>
      <p:sp>
        <p:nvSpPr>
          <p:cNvPr id="5" name="Text: narrative"/>
          <p:cNvSpPr txBox="1"/>
          <p:nvPr/>
        </p:nvSpPr>
        <p:spPr>
          <a:xfrm>
            <a:off x="609600" y="16637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Use the recorded attendance for discussion, then resolve definitions before making compliance decisions.</a:t>
            </a:r>
          </a:p>
        </p:txBody>
      </p:sp>
      <p:sp>
        <p:nvSpPr>
          <p:cNvPr id="6" name="Text: • Confirm the WFO requirement and w"/>
          <p:cNvSpPr txBox="1"/>
          <p:nvPr/>
        </p:nvSpPr>
        <p:spPr>
          <a:xfrm>
            <a:off x="609600" y="24511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• Confirm the WFO requirement and working-day calendar.</a:t>
            </a:r>
          </a:p>
        </p:txBody>
      </p:sp>
      <p:sp>
        <p:nvSpPr>
          <p:cNvPr id="7" name="Text: • Confirm whether leave is recorded"/>
          <p:cNvSpPr txBox="1"/>
          <p:nvPr/>
        </p:nvSpPr>
        <p:spPr>
          <a:xfrm>
            <a:off x="609600" y="2882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• Confirm whether leave is recorded in calendar days or working days.</a:t>
            </a:r>
          </a:p>
        </p:txBody>
      </p:sp>
      <p:sp>
        <p:nvSpPr>
          <p:cNvPr id="8" name="Text: • Check flagged entries and the fin"/>
          <p:cNvSpPr txBox="1"/>
          <p:nvPr/>
        </p:nvSpPr>
        <p:spPr>
          <a:xfrm>
            <a:off x="609600" y="33147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F172A"/>
                </a:solidFill>
                <a:latin typeface="Plus Jakarta Sans"/>
              </a:defRPr>
            </a:pPr>
            <a:r>
              <a:t>• Check flagged entries and the final-attendance formula.</a:t>
            </a:r>
          </a:p>
        </p:txBody>
      </p:sp>
      <p:sp>
        <p:nvSpPr>
          <p:cNvPr id="9" name="Text: July WFO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34E5E"/>
                </a:solidFill>
                <a:latin typeface="Plus Jakarta Sans"/>
              </a:defRPr>
            </a:pPr>
            <a:r>
              <a:t>July WFO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434E5E"/>
                </a:solidFill>
                <a:latin typeface="Plus Jakarta Sans"/>
              </a:defRPr>
            </a:pPr>
            <a: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